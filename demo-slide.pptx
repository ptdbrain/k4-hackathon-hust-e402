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alibri (MS) Bold" charset="1" panose="020F0702030404030204"/>
      <p:regular r:id="rId15"/>
    </p:embeddedFont>
    <p:embeddedFont>
      <p:font typeface="Calibri (MS)" charset="1" panose="020F050202020403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21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Mở đầu bằng vấn đề cốt lõi: LabGuard là lớp kiểm tra trước khi nộp, không phải công cụ làm bài hộ.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Nội dung do người dùng cung cấp trong yêu cầu tạo slide.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Nhấn mạnh chi phí của việc đối chiếu thủ công và sự khác nhau giữa “có file” với “đạt yêu cầu”.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Nội dung do người dùng cung cấp trong yêu cầu tạo slide.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Không tự suy diễn số liệu. Khi có file CSV/XLSX từ Google Form, thay khối bên trái bằng 2–3 biểu đồ có số mẫu và tỷ lệ phần trăm.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Google Form khảo sát: https://forms.gle/iaPwkKp3oc3H1Y2u9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Giải thích chuỗi giá trị: từ nguồn yêu cầu đến một kết luận có căn cứ và hành động tiếp theo.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Nội dung do người dùng cung cấp trong yêu cầu tạo slide.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MVP chỉ nhắm Lab 03 để tránh mở rộng checker quá sớm. Tiêu chí thành công là chạy trọn luồng và đưa ra một hành động hữu ích.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Nội dung do người dùng cung cấp trong yêu cầu tạo slide.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Mô tả đường đi của dữ liệu và vai trò assignment-pack.yaml như hợp đồng giữa nguồn yêu cầu và checker.</a:t>
            </a:r>
          </a:p>
          <a:p>
            <a:r>
              <a:rPr lang="en-US"/>
              <a:t/>
            </a:r>
          </a:p>
          <a:p>
            <a:r>
              <a:rPr lang="en-US"/>
              <a:t>[Sources]</a:t>
            </a:r>
          </a:p>
          <a:p>
            <a:r>
              <a:rPr lang="en-US"/>
              <a:t>- Nội dung do người dùng cung cấp trong yêu cầu tạo slide.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3485" y="2092590"/>
            <a:ext cx="14028354" cy="1821864"/>
            <a:chOff x="0" y="0"/>
            <a:chExt cx="14668500" cy="190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685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4668500">
                  <a:moveTo>
                    <a:pt x="0" y="0"/>
                  </a:moveTo>
                  <a:lnTo>
                    <a:pt x="14668500" y="0"/>
                  </a:lnTo>
                  <a:lnTo>
                    <a:pt x="14668500" y="1905000"/>
                  </a:lnTo>
                  <a:lnTo>
                    <a:pt x="0" y="190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034" r="0" b="-10003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71450"/>
              <a:ext cx="14668500" cy="2076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720"/>
                </a:lnSpc>
              </a:pPr>
              <a:r>
                <a:rPr lang="en-US" sz="810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LabGuard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5857" y="3932285"/>
            <a:ext cx="12747241" cy="1274724"/>
            <a:chOff x="0" y="0"/>
            <a:chExt cx="15621000" cy="1562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621000" cy="1562100"/>
            </a:xfrm>
            <a:custGeom>
              <a:avLst/>
              <a:gdLst/>
              <a:ahLst/>
              <a:cxnLst/>
              <a:rect r="r" b="b" t="t" l="l"/>
              <a:pathLst>
                <a:path h="1562100" w="15621000">
                  <a:moveTo>
                    <a:pt x="0" y="0"/>
                  </a:moveTo>
                  <a:lnTo>
                    <a:pt x="15621000" y="0"/>
                  </a:lnTo>
                  <a:lnTo>
                    <a:pt x="15621000" y="1562100"/>
                  </a:lnTo>
                  <a:lnTo>
                    <a:pt x="0" y="1562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85725"/>
              <a:ext cx="15621000" cy="1647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369"/>
                </a:lnSpc>
              </a:pPr>
              <a:r>
                <a:rPr lang="en-US" sz="4474">
                  <a:solidFill>
                    <a:srgbClr val="F5F8F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Hệ thống AI kiểm tra và đánh giá bài Lab trước khi nộp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915259" y="5418642"/>
            <a:ext cx="10421063" cy="72936"/>
          </a:xfrm>
          <a:prstGeom prst="line">
            <a:avLst/>
          </a:prstGeom>
          <a:ln cap="rnd" w="38100">
            <a:solidFill>
              <a:srgbClr val="3EE6D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863485" y="6024035"/>
            <a:ext cx="15121472" cy="2040488"/>
            <a:chOff x="0" y="0"/>
            <a:chExt cx="15811500" cy="2133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8115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15811500">
                  <a:moveTo>
                    <a:pt x="0" y="0"/>
                  </a:moveTo>
                  <a:lnTo>
                    <a:pt x="15811500" y="0"/>
                  </a:lnTo>
                  <a:lnTo>
                    <a:pt x="15811500" y="2133600"/>
                  </a:lnTo>
                  <a:lnTo>
                    <a:pt x="0" y="2133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398" r="0" b="-94398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5811500" cy="2200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14"/>
                </a:lnSpc>
              </a:pPr>
              <a:r>
                <a:rPr lang="en-US" sz="3012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“Không làm bài thay học viên. Giúp học viên biết bài còn thiếu gì trước khi sử dụng lượt nộp.”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073438" cy="971550"/>
            <a:chOff x="0" y="0"/>
            <a:chExt cx="21431250" cy="129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31250" cy="1295400"/>
            </a:xfrm>
            <a:custGeom>
              <a:avLst/>
              <a:gdLst/>
              <a:ahLst/>
              <a:cxnLst/>
              <a:rect r="r" b="b" t="t" l="l"/>
              <a:pathLst>
                <a:path h="1295400" w="21431250">
                  <a:moveTo>
                    <a:pt x="0" y="0"/>
                  </a:moveTo>
                  <a:lnTo>
                    <a:pt x="21431250" y="0"/>
                  </a:lnTo>
                  <a:lnTo>
                    <a:pt x="21431250" y="1295400"/>
                  </a:lnTo>
                  <a:lnTo>
                    <a:pt x="0" y="1295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62" r="0" b="-27236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143125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Đặt vấn đề: </a:t>
              </a:r>
              <a:r>
                <a:rPr lang="en-US" sz="4275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Một bài Lab — nhiều nguồn cần check</a:t>
              </a:r>
            </a:p>
          </p:txBody>
        </p:sp>
      </p:grpSp>
      <p:sp>
        <p:nvSpPr>
          <p:cNvPr name="AutoShape 5" id="5"/>
          <p:cNvSpPr/>
          <p:nvPr/>
        </p:nvSpPr>
        <p:spPr>
          <a:xfrm rot="3000">
            <a:off x="907256" y="2066925"/>
            <a:ext cx="16473497" cy="0"/>
          </a:xfrm>
          <a:prstGeom prst="line">
            <a:avLst/>
          </a:prstGeom>
          <a:ln cap="rnd" w="9525">
            <a:solidFill>
              <a:srgbClr val="2944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630650" y="9401175"/>
            <a:ext cx="742950" cy="342900"/>
            <a:chOff x="0" y="0"/>
            <a:chExt cx="990600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0600" cy="457200"/>
            </a:xfrm>
            <a:custGeom>
              <a:avLst/>
              <a:gdLst/>
              <a:ahLst/>
              <a:cxnLst/>
              <a:rect r="r" b="b" t="t" l="l"/>
              <a:pathLst>
                <a:path h="4572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906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5838" y="2700338"/>
            <a:ext cx="3886200" cy="1528762"/>
            <a:chOff x="0" y="0"/>
            <a:chExt cx="5181600" cy="20383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81600" cy="2038350"/>
            </a:xfrm>
            <a:custGeom>
              <a:avLst/>
              <a:gdLst/>
              <a:ahLst/>
              <a:cxnLst/>
              <a:rect r="r" b="b" t="t" l="l"/>
              <a:pathLst>
                <a:path h="2038350" w="5181600">
                  <a:moveTo>
                    <a:pt x="0" y="232918"/>
                  </a:moveTo>
                  <a:cubicBezTo>
                    <a:pt x="0" y="104267"/>
                    <a:pt x="104267" y="0"/>
                    <a:pt x="232918" y="0"/>
                  </a:cubicBezTo>
                  <a:lnTo>
                    <a:pt x="4948682" y="0"/>
                  </a:lnTo>
                  <a:cubicBezTo>
                    <a:pt x="5077333" y="0"/>
                    <a:pt x="5181600" y="104267"/>
                    <a:pt x="5181600" y="232918"/>
                  </a:cubicBezTo>
                  <a:lnTo>
                    <a:pt x="5181600" y="1805432"/>
                  </a:lnTo>
                  <a:cubicBezTo>
                    <a:pt x="5181600" y="1934083"/>
                    <a:pt x="5077333" y="2038350"/>
                    <a:pt x="4948682" y="2038350"/>
                  </a:cubicBezTo>
                  <a:lnTo>
                    <a:pt x="232918" y="2038350"/>
                  </a:lnTo>
                  <a:cubicBezTo>
                    <a:pt x="104267" y="2038350"/>
                    <a:pt x="0" y="1934083"/>
                    <a:pt x="0" y="1805432"/>
                  </a:cubicBezTo>
                  <a:close/>
                </a:path>
              </a:pathLst>
            </a:custGeom>
            <a:solidFill>
              <a:srgbClr val="102033"/>
            </a:solidFill>
            <a:ln w="28575" cap="sq">
              <a:solidFill>
                <a:srgbClr val="53A8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00125" y="3000375"/>
            <a:ext cx="3857625" cy="514350"/>
            <a:chOff x="0" y="0"/>
            <a:chExt cx="5143500" cy="685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43500" cy="685800"/>
            </a:xfrm>
            <a:custGeom>
              <a:avLst/>
              <a:gdLst/>
              <a:ahLst/>
              <a:cxnLst/>
              <a:rect r="r" b="b" t="t" l="l"/>
              <a:pathLst>
                <a:path h="6858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514350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475" b="true">
                  <a:solidFill>
                    <a:srgbClr val="53A8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CODELAB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0125" y="3629025"/>
            <a:ext cx="3857625" cy="342900"/>
            <a:chOff x="0" y="0"/>
            <a:chExt cx="5143500" cy="457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43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1435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Hướng dẫn từng bước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843588" y="2700338"/>
            <a:ext cx="3886200" cy="1528762"/>
            <a:chOff x="0" y="0"/>
            <a:chExt cx="5181600" cy="20383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81600" cy="2038350"/>
            </a:xfrm>
            <a:custGeom>
              <a:avLst/>
              <a:gdLst/>
              <a:ahLst/>
              <a:cxnLst/>
              <a:rect r="r" b="b" t="t" l="l"/>
              <a:pathLst>
                <a:path h="2038350" w="5181600">
                  <a:moveTo>
                    <a:pt x="0" y="232918"/>
                  </a:moveTo>
                  <a:cubicBezTo>
                    <a:pt x="0" y="104267"/>
                    <a:pt x="104267" y="0"/>
                    <a:pt x="232918" y="0"/>
                  </a:cubicBezTo>
                  <a:lnTo>
                    <a:pt x="4948682" y="0"/>
                  </a:lnTo>
                  <a:cubicBezTo>
                    <a:pt x="5077333" y="0"/>
                    <a:pt x="5181600" y="104267"/>
                    <a:pt x="5181600" y="232918"/>
                  </a:cubicBezTo>
                  <a:lnTo>
                    <a:pt x="5181600" y="1805432"/>
                  </a:lnTo>
                  <a:cubicBezTo>
                    <a:pt x="5181600" y="1934083"/>
                    <a:pt x="5077333" y="2038350"/>
                    <a:pt x="4948682" y="2038350"/>
                  </a:cubicBezTo>
                  <a:lnTo>
                    <a:pt x="232918" y="2038350"/>
                  </a:lnTo>
                  <a:cubicBezTo>
                    <a:pt x="104267" y="2038350"/>
                    <a:pt x="0" y="1934083"/>
                    <a:pt x="0" y="1805432"/>
                  </a:cubicBezTo>
                  <a:close/>
                </a:path>
              </a:pathLst>
            </a:custGeom>
            <a:solidFill>
              <a:srgbClr val="102033"/>
            </a:solidFill>
            <a:ln w="28575" cap="sq">
              <a:solidFill>
                <a:srgbClr val="3EE6D5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857875" y="3000375"/>
            <a:ext cx="3857625" cy="514350"/>
            <a:chOff x="0" y="0"/>
            <a:chExt cx="5143500" cy="685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43500" cy="685800"/>
            </a:xfrm>
            <a:custGeom>
              <a:avLst/>
              <a:gdLst/>
              <a:ahLst/>
              <a:cxnLst/>
              <a:rect r="r" b="b" t="t" l="l"/>
              <a:pathLst>
                <a:path h="6858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14350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475" b="true">
                  <a:solidFill>
                    <a:srgbClr val="3EE6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README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857875" y="3629025"/>
            <a:ext cx="3857625" cy="342900"/>
            <a:chOff x="0" y="0"/>
            <a:chExt cx="5143500" cy="457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43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1435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Cấu trúc &amp; artifact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01338" y="2700338"/>
            <a:ext cx="3886200" cy="1528762"/>
            <a:chOff x="0" y="0"/>
            <a:chExt cx="5181600" cy="20383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81600" cy="2038350"/>
            </a:xfrm>
            <a:custGeom>
              <a:avLst/>
              <a:gdLst/>
              <a:ahLst/>
              <a:cxnLst/>
              <a:rect r="r" b="b" t="t" l="l"/>
              <a:pathLst>
                <a:path h="2038350" w="5181600">
                  <a:moveTo>
                    <a:pt x="0" y="232918"/>
                  </a:moveTo>
                  <a:cubicBezTo>
                    <a:pt x="0" y="104267"/>
                    <a:pt x="104267" y="0"/>
                    <a:pt x="232918" y="0"/>
                  </a:cubicBezTo>
                  <a:lnTo>
                    <a:pt x="4948682" y="0"/>
                  </a:lnTo>
                  <a:cubicBezTo>
                    <a:pt x="5077333" y="0"/>
                    <a:pt x="5181600" y="104267"/>
                    <a:pt x="5181600" y="232918"/>
                  </a:cubicBezTo>
                  <a:lnTo>
                    <a:pt x="5181600" y="1805432"/>
                  </a:lnTo>
                  <a:cubicBezTo>
                    <a:pt x="5181600" y="1934083"/>
                    <a:pt x="5077333" y="2038350"/>
                    <a:pt x="4948682" y="2038350"/>
                  </a:cubicBezTo>
                  <a:lnTo>
                    <a:pt x="232918" y="2038350"/>
                  </a:lnTo>
                  <a:cubicBezTo>
                    <a:pt x="104267" y="2038350"/>
                    <a:pt x="0" y="1934083"/>
                    <a:pt x="0" y="1805432"/>
                  </a:cubicBezTo>
                  <a:close/>
                </a:path>
              </a:pathLst>
            </a:custGeom>
            <a:solidFill>
              <a:srgbClr val="102033"/>
            </a:solidFill>
            <a:ln w="2857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715625" y="3000375"/>
            <a:ext cx="3857625" cy="514350"/>
            <a:chOff x="0" y="0"/>
            <a:chExt cx="5143500" cy="685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43500" cy="685800"/>
            </a:xfrm>
            <a:custGeom>
              <a:avLst/>
              <a:gdLst/>
              <a:ahLst/>
              <a:cxnLst/>
              <a:rect r="r" b="b" t="t" l="l"/>
              <a:pathLst>
                <a:path h="6858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14350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0"/>
                </a:lnSpc>
              </a:pPr>
              <a:r>
                <a:rPr lang="en-US" sz="2475">
                  <a:solidFill>
                    <a:srgbClr val="FFC85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RUBRIC,...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715625" y="3629025"/>
            <a:ext cx="3857625" cy="342900"/>
            <a:chOff x="0" y="0"/>
            <a:chExt cx="5143500" cy="45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43500" cy="457200"/>
            </a:xfrm>
            <a:custGeom>
              <a:avLst/>
              <a:gdLst/>
              <a:ahLst/>
              <a:cxnLst/>
              <a:rect r="r" b="b" t="t" l="l"/>
              <a:pathLst>
                <a:path h="457200" w="5143500">
                  <a:moveTo>
                    <a:pt x="0" y="0"/>
                  </a:moveTo>
                  <a:lnTo>
                    <a:pt x="5143500" y="0"/>
                  </a:lnTo>
                  <a:lnTo>
                    <a:pt x="5143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143500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25"/>
                </a:lnSpc>
              </a:pPr>
              <a:r>
                <a:rPr lang="en-US" sz="1687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Điều kiện chấm điểm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014912" y="3086100"/>
            <a:ext cx="714375" cy="600075"/>
            <a:chOff x="0" y="0"/>
            <a:chExt cx="952500" cy="800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2500" cy="800100"/>
            </a:xfrm>
            <a:custGeom>
              <a:avLst/>
              <a:gdLst/>
              <a:ahLst/>
              <a:cxnLst/>
              <a:rect r="r" b="b" t="t" l="l"/>
              <a:pathLst>
                <a:path h="8001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75" t="0" r="-57775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952500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90"/>
                </a:lnSpc>
              </a:pPr>
              <a:r>
                <a:rPr lang="en-US" sz="3825" b="true">
                  <a:solidFill>
                    <a:srgbClr val="FF6B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≠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872662" y="3086100"/>
            <a:ext cx="714375" cy="600075"/>
            <a:chOff x="0" y="0"/>
            <a:chExt cx="952500" cy="8001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2500" cy="800100"/>
            </a:xfrm>
            <a:custGeom>
              <a:avLst/>
              <a:gdLst/>
              <a:ahLst/>
              <a:cxnLst/>
              <a:rect r="r" b="b" t="t" l="l"/>
              <a:pathLst>
                <a:path h="8001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800100"/>
                  </a:lnTo>
                  <a:lnTo>
                    <a:pt x="0" y="800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775" t="0" r="-57775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952500" cy="876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90"/>
                </a:lnSpc>
              </a:pPr>
              <a:r>
                <a:rPr lang="en-US" sz="3825" b="true">
                  <a:solidFill>
                    <a:srgbClr val="FF6B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≠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92981" y="4850606"/>
            <a:ext cx="5014912" cy="2157412"/>
            <a:chOff x="0" y="0"/>
            <a:chExt cx="6686550" cy="28765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686550" cy="2876550"/>
            </a:xfrm>
            <a:custGeom>
              <a:avLst/>
              <a:gdLst/>
              <a:ahLst/>
              <a:cxnLst/>
              <a:rect r="r" b="b" t="t" l="l"/>
              <a:pathLst>
                <a:path h="2876550" w="6686550">
                  <a:moveTo>
                    <a:pt x="0" y="230124"/>
                  </a:moveTo>
                  <a:cubicBezTo>
                    <a:pt x="0" y="102997"/>
                    <a:pt x="102997" y="0"/>
                    <a:pt x="230124" y="0"/>
                  </a:cubicBezTo>
                  <a:lnTo>
                    <a:pt x="6456426" y="0"/>
                  </a:lnTo>
                  <a:cubicBezTo>
                    <a:pt x="6583553" y="0"/>
                    <a:pt x="6686550" y="102997"/>
                    <a:pt x="6686550" y="230124"/>
                  </a:cubicBezTo>
                  <a:lnTo>
                    <a:pt x="6686550" y="2646426"/>
                  </a:lnTo>
                  <a:cubicBezTo>
                    <a:pt x="6686550" y="2773553"/>
                    <a:pt x="6583553" y="2876550"/>
                    <a:pt x="6456426" y="2876550"/>
                  </a:cubicBezTo>
                  <a:lnTo>
                    <a:pt x="230124" y="2876550"/>
                  </a:lnTo>
                  <a:cubicBezTo>
                    <a:pt x="102997" y="2876550"/>
                    <a:pt x="0" y="2773553"/>
                    <a:pt x="0" y="2646426"/>
                  </a:cubicBezTo>
                  <a:close/>
                </a:path>
              </a:pathLst>
            </a:custGeom>
            <a:solidFill>
              <a:srgbClr val="102033"/>
            </a:solidFill>
            <a:ln w="14288" cap="sq">
              <a:solidFill>
                <a:srgbClr val="29445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00125" y="4857750"/>
            <a:ext cx="100012" cy="2143125"/>
            <a:chOff x="0" y="0"/>
            <a:chExt cx="133350" cy="28575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3350" cy="2857500"/>
            </a:xfrm>
            <a:custGeom>
              <a:avLst/>
              <a:gdLst/>
              <a:ahLst/>
              <a:cxnLst/>
              <a:rect r="r" b="b" t="t" l="l"/>
              <a:pathLst>
                <a:path h="285750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2857500"/>
                  </a:lnTo>
                  <a:lnTo>
                    <a:pt x="0" y="2857500"/>
                  </a:lnTo>
                  <a:close/>
                </a:path>
              </a:pathLst>
            </a:custGeom>
            <a:solidFill>
              <a:srgbClr val="FF6B7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343025" y="5086350"/>
            <a:ext cx="4400550" cy="694573"/>
            <a:chOff x="0" y="0"/>
            <a:chExt cx="5867400" cy="92609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67400" cy="926097"/>
            </a:xfrm>
            <a:custGeom>
              <a:avLst/>
              <a:gdLst/>
              <a:ahLst/>
              <a:cxnLst/>
              <a:rect r="r" b="b" t="t" l="l"/>
              <a:pathLst>
                <a:path h="926097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926097"/>
                  </a:lnTo>
                  <a:lnTo>
                    <a:pt x="0" y="9260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80" r="0" b="-58419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5867400" cy="100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4"/>
                </a:lnSpc>
              </a:pPr>
              <a:r>
                <a:rPr lang="en-US" sz="3462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Yêu cầu rải rác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43025" y="5657850"/>
            <a:ext cx="4400550" cy="1171575"/>
            <a:chOff x="0" y="0"/>
            <a:chExt cx="5867400" cy="15621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867400" cy="1562100"/>
            </a:xfrm>
            <a:custGeom>
              <a:avLst/>
              <a:gdLst/>
              <a:ahLst/>
              <a:cxnLst/>
              <a:rect r="r" b="b" t="t" l="l"/>
              <a:pathLst>
                <a:path h="15621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1562100"/>
                  </a:lnTo>
                  <a:lnTo>
                    <a:pt x="0" y="1562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87" r="0" b="-2318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867400" cy="1600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Có thể thiếu hoặc mâu thuẫn giữa các nguồn.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636544" y="4850606"/>
            <a:ext cx="5014912" cy="2157412"/>
            <a:chOff x="0" y="0"/>
            <a:chExt cx="6686550" cy="287655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686550" cy="2876550"/>
            </a:xfrm>
            <a:custGeom>
              <a:avLst/>
              <a:gdLst/>
              <a:ahLst/>
              <a:cxnLst/>
              <a:rect r="r" b="b" t="t" l="l"/>
              <a:pathLst>
                <a:path h="2876550" w="6686550">
                  <a:moveTo>
                    <a:pt x="0" y="230124"/>
                  </a:moveTo>
                  <a:cubicBezTo>
                    <a:pt x="0" y="102997"/>
                    <a:pt x="102997" y="0"/>
                    <a:pt x="230124" y="0"/>
                  </a:cubicBezTo>
                  <a:lnTo>
                    <a:pt x="6456426" y="0"/>
                  </a:lnTo>
                  <a:cubicBezTo>
                    <a:pt x="6583553" y="0"/>
                    <a:pt x="6686550" y="102997"/>
                    <a:pt x="6686550" y="230124"/>
                  </a:cubicBezTo>
                  <a:lnTo>
                    <a:pt x="6686550" y="2646426"/>
                  </a:lnTo>
                  <a:cubicBezTo>
                    <a:pt x="6686550" y="2773553"/>
                    <a:pt x="6583553" y="2876550"/>
                    <a:pt x="6456426" y="2876550"/>
                  </a:cubicBezTo>
                  <a:lnTo>
                    <a:pt x="230124" y="2876550"/>
                  </a:lnTo>
                  <a:cubicBezTo>
                    <a:pt x="102997" y="2876550"/>
                    <a:pt x="0" y="2773553"/>
                    <a:pt x="0" y="2646426"/>
                  </a:cubicBezTo>
                  <a:close/>
                </a:path>
              </a:pathLst>
            </a:custGeom>
            <a:solidFill>
              <a:srgbClr val="102033"/>
            </a:solidFill>
            <a:ln w="14288" cap="sq">
              <a:solidFill>
                <a:srgbClr val="29445F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643688" y="4857750"/>
            <a:ext cx="100012" cy="2143125"/>
            <a:chOff x="0" y="0"/>
            <a:chExt cx="133350" cy="28575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3350" cy="2857500"/>
            </a:xfrm>
            <a:custGeom>
              <a:avLst/>
              <a:gdLst/>
              <a:ahLst/>
              <a:cxnLst/>
              <a:rect r="r" b="b" t="t" l="l"/>
              <a:pathLst>
                <a:path h="285750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2857500"/>
                  </a:lnTo>
                  <a:lnTo>
                    <a:pt x="0" y="2857500"/>
                  </a:lnTo>
                  <a:close/>
                </a:path>
              </a:pathLst>
            </a:custGeom>
            <a:solidFill>
              <a:srgbClr val="FFC857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977062" y="5086350"/>
            <a:ext cx="4400550" cy="1855619"/>
            <a:chOff x="0" y="0"/>
            <a:chExt cx="5867400" cy="247415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67400" cy="2474158"/>
            </a:xfrm>
            <a:custGeom>
              <a:avLst/>
              <a:gdLst/>
              <a:ahLst/>
              <a:cxnLst/>
              <a:rect r="r" b="b" t="t" l="l"/>
              <a:pathLst>
                <a:path h="2474158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2474158"/>
                  </a:lnTo>
                  <a:lnTo>
                    <a:pt x="0" y="24741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18" r="0" b="4070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5867400" cy="2531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34"/>
                </a:lnSpc>
              </a:pPr>
              <a:r>
                <a:rPr lang="en-US" sz="2862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Đã tạo đúng file theo yêu cầu nhưng chưa chắc đã nộp đủ các phần được yêu cầu trong file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280106" y="4850606"/>
            <a:ext cx="5014912" cy="2157412"/>
            <a:chOff x="0" y="0"/>
            <a:chExt cx="6686550" cy="28765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686550" cy="2876550"/>
            </a:xfrm>
            <a:custGeom>
              <a:avLst/>
              <a:gdLst/>
              <a:ahLst/>
              <a:cxnLst/>
              <a:rect r="r" b="b" t="t" l="l"/>
              <a:pathLst>
                <a:path h="2876550" w="6686550">
                  <a:moveTo>
                    <a:pt x="0" y="230124"/>
                  </a:moveTo>
                  <a:cubicBezTo>
                    <a:pt x="0" y="102997"/>
                    <a:pt x="102997" y="0"/>
                    <a:pt x="230124" y="0"/>
                  </a:cubicBezTo>
                  <a:lnTo>
                    <a:pt x="6456426" y="0"/>
                  </a:lnTo>
                  <a:cubicBezTo>
                    <a:pt x="6583553" y="0"/>
                    <a:pt x="6686550" y="102997"/>
                    <a:pt x="6686550" y="230124"/>
                  </a:cubicBezTo>
                  <a:lnTo>
                    <a:pt x="6686550" y="2646426"/>
                  </a:lnTo>
                  <a:cubicBezTo>
                    <a:pt x="6686550" y="2773553"/>
                    <a:pt x="6583553" y="2876550"/>
                    <a:pt x="6456426" y="2876550"/>
                  </a:cubicBezTo>
                  <a:lnTo>
                    <a:pt x="230124" y="2876550"/>
                  </a:lnTo>
                  <a:cubicBezTo>
                    <a:pt x="102997" y="2876550"/>
                    <a:pt x="0" y="2773553"/>
                    <a:pt x="0" y="2646426"/>
                  </a:cubicBezTo>
                  <a:close/>
                </a:path>
              </a:pathLst>
            </a:custGeom>
            <a:solidFill>
              <a:srgbClr val="102033"/>
            </a:solidFill>
            <a:ln w="14288" cap="sq">
              <a:solidFill>
                <a:srgbClr val="29445F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287250" y="4857750"/>
            <a:ext cx="100012" cy="2143125"/>
            <a:chOff x="0" y="0"/>
            <a:chExt cx="133350" cy="28575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3350" cy="2857500"/>
            </a:xfrm>
            <a:custGeom>
              <a:avLst/>
              <a:gdLst/>
              <a:ahLst/>
              <a:cxnLst/>
              <a:rect r="r" b="b" t="t" l="l"/>
              <a:pathLst>
                <a:path h="2857500" w="133350">
                  <a:moveTo>
                    <a:pt x="0" y="0"/>
                  </a:moveTo>
                  <a:lnTo>
                    <a:pt x="133350" y="0"/>
                  </a:lnTo>
                  <a:lnTo>
                    <a:pt x="133350" y="2857500"/>
                  </a:lnTo>
                  <a:lnTo>
                    <a:pt x="0" y="2857500"/>
                  </a:lnTo>
                  <a:close/>
                </a:path>
              </a:pathLst>
            </a:custGeom>
            <a:solidFill>
              <a:srgbClr val="FF6B7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630150" y="5086350"/>
            <a:ext cx="4400550" cy="694573"/>
            <a:chOff x="0" y="0"/>
            <a:chExt cx="5867400" cy="92609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867400" cy="926097"/>
            </a:xfrm>
            <a:custGeom>
              <a:avLst/>
              <a:gdLst/>
              <a:ahLst/>
              <a:cxnLst/>
              <a:rect r="r" b="b" t="t" l="l"/>
              <a:pathLst>
                <a:path h="926097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926097"/>
                  </a:lnTo>
                  <a:lnTo>
                    <a:pt x="0" y="9260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480" r="0" b="-58419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5867400" cy="10022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4"/>
                </a:lnSpc>
              </a:pPr>
              <a:r>
                <a:rPr lang="en-US" sz="3462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Rủi ro vô ý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630150" y="5657850"/>
            <a:ext cx="4400550" cy="1171575"/>
            <a:chOff x="0" y="0"/>
            <a:chExt cx="5867400" cy="15621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867400" cy="1562100"/>
            </a:xfrm>
            <a:custGeom>
              <a:avLst/>
              <a:gdLst/>
              <a:ahLst/>
              <a:cxnLst/>
              <a:rect r="r" b="b" t="t" l="l"/>
              <a:pathLst>
                <a:path h="1562100" w="5867400">
                  <a:moveTo>
                    <a:pt x="0" y="0"/>
                  </a:moveTo>
                  <a:lnTo>
                    <a:pt x="5867400" y="0"/>
                  </a:lnTo>
                  <a:lnTo>
                    <a:pt x="5867400" y="1562100"/>
                  </a:lnTo>
                  <a:lnTo>
                    <a:pt x="0" y="1562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187" r="0" b="-2318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5867400" cy="1600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Lộ API key, thiếu flowchart hoặc trace evaluation.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000125" y="7929562"/>
            <a:ext cx="16287750" cy="885825"/>
            <a:chOff x="0" y="0"/>
            <a:chExt cx="21717000" cy="11811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7170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181100"/>
                  </a:lnTo>
                  <a:lnTo>
                    <a:pt x="0" y="1181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8273" r="0" b="-30827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66675"/>
              <a:ext cx="21717000" cy="1247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HỆ QUẢ  →  Nộp không đủ file, dẫn đến không đạt điều kiện → mất điểm, điểm thấp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073438" cy="971550"/>
            <a:chOff x="0" y="0"/>
            <a:chExt cx="21431250" cy="129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31250" cy="1295400"/>
            </a:xfrm>
            <a:custGeom>
              <a:avLst/>
              <a:gdLst/>
              <a:ahLst/>
              <a:cxnLst/>
              <a:rect r="r" b="b" t="t" l="l"/>
              <a:pathLst>
                <a:path h="1295400" w="21431250">
                  <a:moveTo>
                    <a:pt x="0" y="0"/>
                  </a:moveTo>
                  <a:lnTo>
                    <a:pt x="21431250" y="0"/>
                  </a:lnTo>
                  <a:lnTo>
                    <a:pt x="21431250" y="1295400"/>
                  </a:lnTo>
                  <a:lnTo>
                    <a:pt x="0" y="1295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62" r="0" b="-27236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143125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Khảo sát nhu cầu người dùng</a:t>
              </a:r>
            </a:p>
          </p:txBody>
        </p:sp>
      </p:grpSp>
      <p:sp>
        <p:nvSpPr>
          <p:cNvPr name="AutoShape 5" id="5"/>
          <p:cNvSpPr/>
          <p:nvPr/>
        </p:nvSpPr>
        <p:spPr>
          <a:xfrm rot="3000">
            <a:off x="907256" y="2066925"/>
            <a:ext cx="16473497" cy="0"/>
          </a:xfrm>
          <a:prstGeom prst="line">
            <a:avLst/>
          </a:prstGeom>
          <a:ln cap="rnd" w="9525">
            <a:solidFill>
              <a:srgbClr val="2944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630650" y="9401175"/>
            <a:ext cx="742950" cy="342900"/>
            <a:chOff x="0" y="0"/>
            <a:chExt cx="990600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0600" cy="457200"/>
            </a:xfrm>
            <a:custGeom>
              <a:avLst/>
              <a:gdLst/>
              <a:ahLst/>
              <a:cxnLst/>
              <a:rect r="r" b="b" t="t" l="l"/>
              <a:pathLst>
                <a:path h="4572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906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01610" y="2372784"/>
            <a:ext cx="10184872" cy="5964411"/>
            <a:chOff x="0" y="0"/>
            <a:chExt cx="13898745" cy="81393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898745" cy="8139310"/>
            </a:xfrm>
            <a:custGeom>
              <a:avLst/>
              <a:gdLst/>
              <a:ahLst/>
              <a:cxnLst/>
              <a:rect r="r" b="b" t="t" l="l"/>
              <a:pathLst>
                <a:path h="8139310" w="13898745">
                  <a:moveTo>
                    <a:pt x="0" y="242900"/>
                  </a:moveTo>
                  <a:cubicBezTo>
                    <a:pt x="0" y="108793"/>
                    <a:pt x="182160" y="0"/>
                    <a:pt x="406705" y="0"/>
                  </a:cubicBezTo>
                  <a:lnTo>
                    <a:pt x="13492042" y="0"/>
                  </a:lnTo>
                  <a:cubicBezTo>
                    <a:pt x="13716809" y="0"/>
                    <a:pt x="13898745" y="108793"/>
                    <a:pt x="13898745" y="242900"/>
                  </a:cubicBezTo>
                  <a:lnTo>
                    <a:pt x="13898745" y="7896410"/>
                  </a:lnTo>
                  <a:cubicBezTo>
                    <a:pt x="13898745" y="8030651"/>
                    <a:pt x="13716586" y="8139310"/>
                    <a:pt x="13492042" y="8139310"/>
                  </a:cubicBezTo>
                  <a:lnTo>
                    <a:pt x="406705" y="8139310"/>
                  </a:lnTo>
                  <a:cubicBezTo>
                    <a:pt x="182160" y="8139310"/>
                    <a:pt x="0" y="8030517"/>
                    <a:pt x="0" y="7896410"/>
                  </a:cubicBezTo>
                  <a:close/>
                </a:path>
              </a:pathLst>
            </a:custGeom>
            <a:solidFill>
              <a:srgbClr val="102033"/>
            </a:solidFill>
            <a:ln w="14288" cap="sq">
              <a:solidFill>
                <a:srgbClr val="29445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64657" y="2506045"/>
            <a:ext cx="6873578" cy="667719"/>
            <a:chOff x="0" y="0"/>
            <a:chExt cx="6667500" cy="6477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667500" cy="647700"/>
            </a:xfrm>
            <a:custGeom>
              <a:avLst/>
              <a:gdLst/>
              <a:ahLst/>
              <a:cxnLst/>
              <a:rect r="r" b="b" t="t" l="l"/>
              <a:pathLst>
                <a:path h="647700" w="6667500">
                  <a:moveTo>
                    <a:pt x="0" y="0"/>
                  </a:moveTo>
                  <a:lnTo>
                    <a:pt x="6667500" y="0"/>
                  </a:lnTo>
                  <a:lnTo>
                    <a:pt x="666750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581" r="0" b="-15058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6667500" cy="695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3EE6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771730" y="3367575"/>
            <a:ext cx="172424" cy="172424"/>
            <a:chOff x="0" y="0"/>
            <a:chExt cx="190500" cy="190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0" y="95250"/>
                  </a:moveTo>
                  <a:cubicBezTo>
                    <a:pt x="0" y="42672"/>
                    <a:pt x="42672" y="0"/>
                    <a:pt x="95250" y="0"/>
                  </a:cubicBezTo>
                  <a:cubicBezTo>
                    <a:pt x="147828" y="0"/>
                    <a:pt x="190500" y="42672"/>
                    <a:pt x="190500" y="95250"/>
                  </a:cubicBezTo>
                  <a:cubicBezTo>
                    <a:pt x="190500" y="147828"/>
                    <a:pt x="147828" y="190500"/>
                    <a:pt x="95250" y="190500"/>
                  </a:cubicBezTo>
                  <a:cubicBezTo>
                    <a:pt x="42672" y="190500"/>
                    <a:pt x="0" y="147828"/>
                    <a:pt x="0" y="95250"/>
                  </a:cubicBezTo>
                  <a:close/>
                </a:path>
              </a:pathLst>
            </a:custGeom>
            <a:solidFill>
              <a:srgbClr val="53A8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151063" y="3246879"/>
            <a:ext cx="10793744" cy="547682"/>
            <a:chOff x="0" y="0"/>
            <a:chExt cx="11925300" cy="6050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925300" cy="605098"/>
            </a:xfrm>
            <a:custGeom>
              <a:avLst/>
              <a:gdLst/>
              <a:ahLst/>
              <a:cxnLst/>
              <a:rect r="r" b="b" t="t" l="l"/>
              <a:pathLst>
                <a:path h="605098" w="11925300">
                  <a:moveTo>
                    <a:pt x="0" y="0"/>
                  </a:moveTo>
                  <a:lnTo>
                    <a:pt x="11925300" y="0"/>
                  </a:lnTo>
                  <a:lnTo>
                    <a:pt x="11925300" y="605098"/>
                  </a:lnTo>
                  <a:lnTo>
                    <a:pt x="0" y="6050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3084" r="0" b="-32493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1925300" cy="652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Thiếu hụt Artifact &amp; Thiếu File (76%):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51063" y="3693363"/>
            <a:ext cx="6247937" cy="1142088"/>
            <a:chOff x="0" y="0"/>
            <a:chExt cx="6902936" cy="126181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02936" cy="1261818"/>
            </a:xfrm>
            <a:custGeom>
              <a:avLst/>
              <a:gdLst/>
              <a:ahLst/>
              <a:cxnLst/>
              <a:rect r="r" b="b" t="t" l="l"/>
              <a:pathLst>
                <a:path h="1261818" w="6902936">
                  <a:moveTo>
                    <a:pt x="0" y="0"/>
                  </a:moveTo>
                  <a:lnTo>
                    <a:pt x="6902936" y="0"/>
                  </a:lnTo>
                  <a:lnTo>
                    <a:pt x="6902936" y="1261818"/>
                  </a:lnTo>
                  <a:lnTo>
                    <a:pt x="0" y="12618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388" r="-72756" b="-12491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6902936" cy="13094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Học viên rất dễ sót file config, report, hoặc thư mục bắt buộc mà không hay biết.</a:t>
              </a:r>
            </a:p>
            <a:p>
              <a:pPr algn="l">
                <a:lnSpc>
                  <a:spcPts val="27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771730" y="4850422"/>
            <a:ext cx="172424" cy="172424"/>
            <a:chOff x="0" y="0"/>
            <a:chExt cx="190500" cy="190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0" y="95250"/>
                  </a:moveTo>
                  <a:cubicBezTo>
                    <a:pt x="0" y="42672"/>
                    <a:pt x="42672" y="0"/>
                    <a:pt x="95250" y="0"/>
                  </a:cubicBezTo>
                  <a:cubicBezTo>
                    <a:pt x="147828" y="0"/>
                    <a:pt x="190500" y="42672"/>
                    <a:pt x="190500" y="95250"/>
                  </a:cubicBezTo>
                  <a:cubicBezTo>
                    <a:pt x="190500" y="147828"/>
                    <a:pt x="147828" y="190500"/>
                    <a:pt x="95250" y="190500"/>
                  </a:cubicBezTo>
                  <a:cubicBezTo>
                    <a:pt x="42672" y="190500"/>
                    <a:pt x="0" y="147828"/>
                    <a:pt x="0" y="95250"/>
                  </a:cubicBezTo>
                  <a:close/>
                </a:path>
              </a:pathLst>
            </a:custGeom>
            <a:solidFill>
              <a:srgbClr val="FF6B7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151063" y="4642892"/>
            <a:ext cx="10793744" cy="506713"/>
            <a:chOff x="0" y="0"/>
            <a:chExt cx="11925300" cy="5598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925300" cy="559834"/>
            </a:xfrm>
            <a:custGeom>
              <a:avLst/>
              <a:gdLst/>
              <a:ahLst/>
              <a:cxnLst/>
              <a:rect r="r" b="b" t="t" l="l"/>
              <a:pathLst>
                <a:path h="559834" w="11925300">
                  <a:moveTo>
                    <a:pt x="0" y="0"/>
                  </a:moveTo>
                  <a:lnTo>
                    <a:pt x="11925300" y="0"/>
                  </a:lnTo>
                  <a:lnTo>
                    <a:pt x="11925300" y="559834"/>
                  </a:lnTo>
                  <a:lnTo>
                    <a:pt x="0" y="559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824" r="0" b="-35929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1925300" cy="60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Mơ hồ về Tiêu chí &amp; Ngữ nghĩa Bài làm (66% - 70%):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151063" y="5040153"/>
            <a:ext cx="6247937" cy="1484989"/>
            <a:chOff x="0" y="0"/>
            <a:chExt cx="6902936" cy="16406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02936" cy="1640667"/>
            </a:xfrm>
            <a:custGeom>
              <a:avLst/>
              <a:gdLst/>
              <a:ahLst/>
              <a:cxnLst/>
              <a:rect r="r" b="b" t="t" l="l"/>
              <a:pathLst>
                <a:path h="1640667" w="6902936">
                  <a:moveTo>
                    <a:pt x="0" y="0"/>
                  </a:moveTo>
                  <a:lnTo>
                    <a:pt x="6902936" y="0"/>
                  </a:lnTo>
                  <a:lnTo>
                    <a:pt x="6902936" y="1640667"/>
                  </a:lnTo>
                  <a:lnTo>
                    <a:pt x="0" y="16406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278" r="-72756" b="-7297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6902936" cy="16882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70% th</a:t>
              </a:r>
              <a:r>
                <a:rPr lang="en-US" sz="23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iếu nội dung yêu cầu và 66% không thể tự kiểm tra xem bài của mình đã "ĐẠT" hay chưa trước khi bấm nộp.</a:t>
              </a:r>
            </a:p>
            <a:p>
              <a:pPr algn="l">
                <a:lnSpc>
                  <a:spcPts val="27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771730" y="6333269"/>
            <a:ext cx="172424" cy="172424"/>
            <a:chOff x="0" y="0"/>
            <a:chExt cx="190500" cy="190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0" y="95250"/>
                  </a:moveTo>
                  <a:cubicBezTo>
                    <a:pt x="0" y="42672"/>
                    <a:pt x="42672" y="0"/>
                    <a:pt x="95250" y="0"/>
                  </a:cubicBezTo>
                  <a:cubicBezTo>
                    <a:pt x="147828" y="0"/>
                    <a:pt x="190500" y="42672"/>
                    <a:pt x="190500" y="95250"/>
                  </a:cubicBezTo>
                  <a:cubicBezTo>
                    <a:pt x="190500" y="147828"/>
                    <a:pt x="147828" y="190500"/>
                    <a:pt x="95250" y="190500"/>
                  </a:cubicBezTo>
                  <a:cubicBezTo>
                    <a:pt x="42672" y="190500"/>
                    <a:pt x="0" y="147828"/>
                    <a:pt x="0" y="95250"/>
                  </a:cubicBezTo>
                  <a:close/>
                </a:path>
              </a:pathLst>
            </a:custGeom>
            <a:solidFill>
              <a:srgbClr val="3EE6D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151063" y="6729844"/>
            <a:ext cx="6475744" cy="1142089"/>
            <a:chOff x="0" y="0"/>
            <a:chExt cx="7154625" cy="126181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54625" cy="1261819"/>
            </a:xfrm>
            <a:custGeom>
              <a:avLst/>
              <a:gdLst/>
              <a:ahLst/>
              <a:cxnLst/>
              <a:rect r="r" b="b" t="t" l="l"/>
              <a:pathLst>
                <a:path h="1261819" w="7154625">
                  <a:moveTo>
                    <a:pt x="0" y="0"/>
                  </a:moveTo>
                  <a:lnTo>
                    <a:pt x="7154625" y="0"/>
                  </a:lnTo>
                  <a:lnTo>
                    <a:pt x="7154625" y="1261819"/>
                  </a:lnTo>
                  <a:lnTo>
                    <a:pt x="0" y="12618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388" r="-66679" b="-12491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7154625" cy="13094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Dễ dán s</a:t>
              </a:r>
              <a:r>
                <a:rPr lang="en-US" sz="23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link GitHub, các file trong repo mâu thuẫn lẫn nhau (VD: Code một đằng, Report viết một nẻo).</a:t>
              </a:r>
            </a:p>
            <a:p>
              <a:pPr algn="l">
                <a:lnSpc>
                  <a:spcPts val="276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151063" y="6178087"/>
            <a:ext cx="10793744" cy="506713"/>
            <a:chOff x="0" y="0"/>
            <a:chExt cx="11925300" cy="55983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925300" cy="559834"/>
            </a:xfrm>
            <a:custGeom>
              <a:avLst/>
              <a:gdLst/>
              <a:ahLst/>
              <a:cxnLst/>
              <a:rect r="r" b="b" t="t" l="l"/>
              <a:pathLst>
                <a:path h="559834" w="11925300">
                  <a:moveTo>
                    <a:pt x="0" y="0"/>
                  </a:moveTo>
                  <a:lnTo>
                    <a:pt x="11925300" y="0"/>
                  </a:lnTo>
                  <a:lnTo>
                    <a:pt x="11925300" y="559834"/>
                  </a:lnTo>
                  <a:lnTo>
                    <a:pt x="0" y="559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823" r="0" b="-35929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11925300" cy="60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Lỗi Cấu hình &amp; Tính </a:t>
              </a:r>
              <a:r>
                <a:rPr lang="en-US" sz="25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Nhất quán (58% - 62%):</a:t>
              </a: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564657" y="3594307"/>
            <a:ext cx="9443311" cy="4316942"/>
          </a:xfrm>
          <a:custGeom>
            <a:avLst/>
            <a:gdLst/>
            <a:ahLst/>
            <a:cxnLst/>
            <a:rect r="r" b="b" t="t" l="l"/>
            <a:pathLst>
              <a:path h="4316942" w="9443311">
                <a:moveTo>
                  <a:pt x="0" y="0"/>
                </a:moveTo>
                <a:lnTo>
                  <a:pt x="9443311" y="0"/>
                </a:lnTo>
                <a:lnTo>
                  <a:pt x="9443311" y="4316942"/>
                </a:lnTo>
                <a:lnTo>
                  <a:pt x="0" y="43169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5862" y="1362908"/>
            <a:ext cx="16073438" cy="2058270"/>
            <a:chOff x="0" y="0"/>
            <a:chExt cx="21431250" cy="27443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31250" cy="2744360"/>
            </a:xfrm>
            <a:custGeom>
              <a:avLst/>
              <a:gdLst/>
              <a:ahLst/>
              <a:cxnLst/>
              <a:rect r="r" b="b" t="t" l="l"/>
              <a:pathLst>
                <a:path h="2744360" w="21431250">
                  <a:moveTo>
                    <a:pt x="0" y="0"/>
                  </a:moveTo>
                  <a:lnTo>
                    <a:pt x="21431250" y="0"/>
                  </a:lnTo>
                  <a:lnTo>
                    <a:pt x="21431250" y="2744360"/>
                  </a:lnTo>
                  <a:lnTo>
                    <a:pt x="0" y="2744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561" r="0" b="-7576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1431250" cy="2820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90"/>
                </a:lnSpc>
              </a:pPr>
              <a:r>
                <a:rPr lang="en-US" sz="4075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Giải pháp: </a:t>
              </a:r>
              <a:r>
                <a:rPr lang="en-US" sz="4075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LabGuard đóng vai trò là " Pre-submission Checker" thông minh.</a:t>
              </a:r>
            </a:p>
            <a:p>
              <a:pPr algn="l">
                <a:lnSpc>
                  <a:spcPts val="489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rot="3000">
            <a:off x="907256" y="2066925"/>
            <a:ext cx="16473497" cy="0"/>
          </a:xfrm>
          <a:prstGeom prst="line">
            <a:avLst/>
          </a:prstGeom>
          <a:ln cap="rnd" w="9525">
            <a:solidFill>
              <a:srgbClr val="2944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630650" y="9401175"/>
            <a:ext cx="742950" cy="342900"/>
            <a:chOff x="0" y="0"/>
            <a:chExt cx="990600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0600" cy="457200"/>
            </a:xfrm>
            <a:custGeom>
              <a:avLst/>
              <a:gdLst/>
              <a:ahLst/>
              <a:cxnLst/>
              <a:rect r="r" b="b" t="t" l="l"/>
              <a:pathLst>
                <a:path h="4572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906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3867246" y="6047585"/>
            <a:ext cx="442910" cy="42866"/>
          </a:xfrm>
          <a:prstGeom prst="line">
            <a:avLst/>
          </a:prstGeom>
          <a:ln cap="rnd" w="19050">
            <a:solidFill>
              <a:srgbClr val="3EE6D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95462" y="4547399"/>
            <a:ext cx="2900362" cy="3014662"/>
            <a:chOff x="0" y="0"/>
            <a:chExt cx="3867150" cy="40195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67150" cy="4019550"/>
            </a:xfrm>
            <a:custGeom>
              <a:avLst/>
              <a:gdLst/>
              <a:ahLst/>
              <a:cxnLst/>
              <a:rect r="r" b="b" t="t" l="l"/>
              <a:pathLst>
                <a:path h="4019550" w="3867150">
                  <a:moveTo>
                    <a:pt x="0" y="229743"/>
                  </a:moveTo>
                  <a:cubicBezTo>
                    <a:pt x="0" y="102870"/>
                    <a:pt x="102870" y="0"/>
                    <a:pt x="229743" y="0"/>
                  </a:cubicBezTo>
                  <a:lnTo>
                    <a:pt x="3637407" y="0"/>
                  </a:lnTo>
                  <a:cubicBezTo>
                    <a:pt x="3764280" y="0"/>
                    <a:pt x="3867150" y="102870"/>
                    <a:pt x="3867150" y="229743"/>
                  </a:cubicBezTo>
                  <a:lnTo>
                    <a:pt x="3867150" y="3789807"/>
                  </a:lnTo>
                  <a:cubicBezTo>
                    <a:pt x="3867150" y="3916680"/>
                    <a:pt x="3764280" y="4019550"/>
                    <a:pt x="3637407" y="4019550"/>
                  </a:cubicBezTo>
                  <a:lnTo>
                    <a:pt x="229743" y="4019550"/>
                  </a:lnTo>
                  <a:cubicBezTo>
                    <a:pt x="102870" y="4019550"/>
                    <a:pt x="0" y="3916680"/>
                    <a:pt x="0" y="3789807"/>
                  </a:cubicBezTo>
                  <a:close/>
                </a:path>
              </a:pathLst>
            </a:custGeom>
            <a:solidFill>
              <a:srgbClr val="102033"/>
            </a:solidFill>
            <a:ln w="14288" cap="sq">
              <a:solidFill>
                <a:srgbClr val="29445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88356" y="4811718"/>
            <a:ext cx="742950" cy="542925"/>
            <a:chOff x="0" y="0"/>
            <a:chExt cx="990600" cy="7239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0600" cy="723900"/>
            </a:xfrm>
            <a:custGeom>
              <a:avLst/>
              <a:gdLst/>
              <a:ahLst/>
              <a:cxnLst/>
              <a:rect r="r" b="b" t="t" l="l"/>
              <a:pathLst>
                <a:path h="7239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760" t="0" r="-4376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990600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EE6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88356" y="5583243"/>
            <a:ext cx="2314575" cy="457200"/>
            <a:chOff x="0" y="0"/>
            <a:chExt cx="30861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86100" cy="609600"/>
            </a:xfrm>
            <a:custGeom>
              <a:avLst/>
              <a:gdLst/>
              <a:ahLst/>
              <a:cxnLst/>
              <a:rect r="r" b="b" t="t" l="l"/>
              <a:pathLst>
                <a:path h="60960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643" r="0" b="-4864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08610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ĐỌC NGUỒN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8356" y="6269043"/>
            <a:ext cx="2314575" cy="785812"/>
            <a:chOff x="0" y="0"/>
            <a:chExt cx="3086100" cy="10477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861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2" r="0" b="-739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0861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Codelab </a:t>
              </a:r>
              <a:r>
                <a:rPr lang="en-US" sz="18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+ GitHub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7181946" y="6047585"/>
            <a:ext cx="442910" cy="42866"/>
          </a:xfrm>
          <a:prstGeom prst="line">
            <a:avLst/>
          </a:prstGeom>
          <a:ln cap="rnd" w="19050">
            <a:solidFill>
              <a:srgbClr val="3EE6D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4310162" y="4547399"/>
            <a:ext cx="2900362" cy="3014662"/>
            <a:chOff x="0" y="0"/>
            <a:chExt cx="3867150" cy="40195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67150" cy="4019550"/>
            </a:xfrm>
            <a:custGeom>
              <a:avLst/>
              <a:gdLst/>
              <a:ahLst/>
              <a:cxnLst/>
              <a:rect r="r" b="b" t="t" l="l"/>
              <a:pathLst>
                <a:path h="4019550" w="3867150">
                  <a:moveTo>
                    <a:pt x="0" y="229743"/>
                  </a:moveTo>
                  <a:cubicBezTo>
                    <a:pt x="0" y="102870"/>
                    <a:pt x="102870" y="0"/>
                    <a:pt x="229743" y="0"/>
                  </a:cubicBezTo>
                  <a:lnTo>
                    <a:pt x="3637407" y="0"/>
                  </a:lnTo>
                  <a:cubicBezTo>
                    <a:pt x="3764280" y="0"/>
                    <a:pt x="3867150" y="102870"/>
                    <a:pt x="3867150" y="229743"/>
                  </a:cubicBezTo>
                  <a:lnTo>
                    <a:pt x="3867150" y="3789807"/>
                  </a:lnTo>
                  <a:cubicBezTo>
                    <a:pt x="3867150" y="3916680"/>
                    <a:pt x="3764280" y="4019550"/>
                    <a:pt x="3637407" y="4019550"/>
                  </a:cubicBezTo>
                  <a:lnTo>
                    <a:pt x="229743" y="4019550"/>
                  </a:lnTo>
                  <a:cubicBezTo>
                    <a:pt x="102870" y="4019550"/>
                    <a:pt x="0" y="3916680"/>
                    <a:pt x="0" y="3789807"/>
                  </a:cubicBezTo>
                  <a:close/>
                </a:path>
              </a:pathLst>
            </a:custGeom>
            <a:solidFill>
              <a:srgbClr val="102033"/>
            </a:solidFill>
            <a:ln w="14288" cap="sq">
              <a:solidFill>
                <a:srgbClr val="29445F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4603056" y="4811718"/>
            <a:ext cx="742950" cy="542925"/>
            <a:chOff x="0" y="0"/>
            <a:chExt cx="990600" cy="7239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0600" cy="723900"/>
            </a:xfrm>
            <a:custGeom>
              <a:avLst/>
              <a:gdLst/>
              <a:ahLst/>
              <a:cxnLst/>
              <a:rect r="r" b="b" t="t" l="l"/>
              <a:pathLst>
                <a:path h="7239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760" t="0" r="-43760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990600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EE6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520103" y="5354643"/>
            <a:ext cx="2690421" cy="1139623"/>
            <a:chOff x="0" y="0"/>
            <a:chExt cx="2403247" cy="10179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03247" cy="1017981"/>
            </a:xfrm>
            <a:custGeom>
              <a:avLst/>
              <a:gdLst/>
              <a:ahLst/>
              <a:cxnLst/>
              <a:rect r="r" b="b" t="t" l="l"/>
              <a:pathLst>
                <a:path h="1017981" w="2403247">
                  <a:moveTo>
                    <a:pt x="0" y="0"/>
                  </a:moveTo>
                  <a:lnTo>
                    <a:pt x="2403247" y="0"/>
                  </a:lnTo>
                  <a:lnTo>
                    <a:pt x="2403247" y="1017981"/>
                  </a:lnTo>
                  <a:lnTo>
                    <a:pt x="0" y="10179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29" r="-28413" b="1098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2403247" cy="1075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HỌC VIÊN </a:t>
              </a:r>
              <a:r>
                <a:rPr lang="en-US" sz="22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XÁC NHẬN CÁC YÊU CẦU CẦN NỘP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603056" y="6269043"/>
            <a:ext cx="2314575" cy="785812"/>
            <a:chOff x="0" y="0"/>
            <a:chExt cx="3086100" cy="104775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0861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2" r="0" b="-739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0861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Requirement Pack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10496646" y="6047585"/>
            <a:ext cx="442910" cy="42866"/>
          </a:xfrm>
          <a:prstGeom prst="line">
            <a:avLst/>
          </a:prstGeom>
          <a:ln cap="rnd" w="19050">
            <a:solidFill>
              <a:srgbClr val="3EE6D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7624862" y="4547399"/>
            <a:ext cx="2900362" cy="3014662"/>
            <a:chOff x="0" y="0"/>
            <a:chExt cx="3867150" cy="40195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67150" cy="4019550"/>
            </a:xfrm>
            <a:custGeom>
              <a:avLst/>
              <a:gdLst/>
              <a:ahLst/>
              <a:cxnLst/>
              <a:rect r="r" b="b" t="t" l="l"/>
              <a:pathLst>
                <a:path h="4019550" w="3867150">
                  <a:moveTo>
                    <a:pt x="0" y="229743"/>
                  </a:moveTo>
                  <a:cubicBezTo>
                    <a:pt x="0" y="102870"/>
                    <a:pt x="102870" y="0"/>
                    <a:pt x="229743" y="0"/>
                  </a:cubicBezTo>
                  <a:lnTo>
                    <a:pt x="3637407" y="0"/>
                  </a:lnTo>
                  <a:cubicBezTo>
                    <a:pt x="3764280" y="0"/>
                    <a:pt x="3867150" y="102870"/>
                    <a:pt x="3867150" y="229743"/>
                  </a:cubicBezTo>
                  <a:lnTo>
                    <a:pt x="3867150" y="3789807"/>
                  </a:lnTo>
                  <a:cubicBezTo>
                    <a:pt x="3867150" y="3916680"/>
                    <a:pt x="3764280" y="4019550"/>
                    <a:pt x="3637407" y="4019550"/>
                  </a:cubicBezTo>
                  <a:lnTo>
                    <a:pt x="229743" y="4019550"/>
                  </a:lnTo>
                  <a:cubicBezTo>
                    <a:pt x="102870" y="4019550"/>
                    <a:pt x="0" y="3916680"/>
                    <a:pt x="0" y="3789807"/>
                  </a:cubicBezTo>
                  <a:close/>
                </a:path>
              </a:pathLst>
            </a:custGeom>
            <a:solidFill>
              <a:srgbClr val="102033"/>
            </a:solidFill>
            <a:ln w="14288" cap="sq">
              <a:solidFill>
                <a:srgbClr val="29445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917756" y="4811718"/>
            <a:ext cx="742950" cy="542925"/>
            <a:chOff x="0" y="0"/>
            <a:chExt cx="990600" cy="7239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90600" cy="723900"/>
            </a:xfrm>
            <a:custGeom>
              <a:avLst/>
              <a:gdLst/>
              <a:ahLst/>
              <a:cxnLst/>
              <a:rect r="r" b="b" t="t" l="l"/>
              <a:pathLst>
                <a:path h="7239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760" t="0" r="-4376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990600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EE6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917756" y="5583243"/>
            <a:ext cx="2314575" cy="457200"/>
            <a:chOff x="0" y="0"/>
            <a:chExt cx="308610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086100" cy="609600"/>
            </a:xfrm>
            <a:custGeom>
              <a:avLst/>
              <a:gdLst/>
              <a:ahLst/>
              <a:cxnLst/>
              <a:rect r="r" b="b" t="t" l="l"/>
              <a:pathLst>
                <a:path h="60960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643" r="0" b="-4864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3086100" cy="666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QUÉT REPO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917756" y="6269043"/>
            <a:ext cx="2314575" cy="888839"/>
            <a:chOff x="0" y="0"/>
            <a:chExt cx="3086100" cy="118511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086100" cy="1185118"/>
            </a:xfrm>
            <a:custGeom>
              <a:avLst/>
              <a:gdLst/>
              <a:ahLst/>
              <a:cxnLst/>
              <a:rect r="r" b="b" t="t" l="l"/>
              <a:pathLst>
                <a:path h="1185118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1185118"/>
                  </a:lnTo>
                  <a:lnTo>
                    <a:pt x="0" y="1185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5" r="0" b="505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086100" cy="1223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</a:t>
              </a:r>
              <a:r>
                <a:rPr lang="en-US" sz="18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terministic Check (Code tĩnh/AST) + AI Semantic Review (LLM)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>
            <a:off x="13811346" y="6047585"/>
            <a:ext cx="442910" cy="42866"/>
          </a:xfrm>
          <a:prstGeom prst="line">
            <a:avLst/>
          </a:prstGeom>
          <a:ln cap="rnd" w="19050">
            <a:solidFill>
              <a:srgbClr val="3EE6D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10932418" y="4540255"/>
            <a:ext cx="2914650" cy="3028950"/>
            <a:chOff x="0" y="0"/>
            <a:chExt cx="3886200" cy="4038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886200" cy="4038600"/>
            </a:xfrm>
            <a:custGeom>
              <a:avLst/>
              <a:gdLst/>
              <a:ahLst/>
              <a:cxnLst/>
              <a:rect r="r" b="b" t="t" l="l"/>
              <a:pathLst>
                <a:path h="4038600" w="3886200">
                  <a:moveTo>
                    <a:pt x="0" y="230886"/>
                  </a:moveTo>
                  <a:cubicBezTo>
                    <a:pt x="0" y="103378"/>
                    <a:pt x="103378" y="0"/>
                    <a:pt x="230886" y="0"/>
                  </a:cubicBezTo>
                  <a:lnTo>
                    <a:pt x="3655314" y="0"/>
                  </a:lnTo>
                  <a:cubicBezTo>
                    <a:pt x="3782822" y="0"/>
                    <a:pt x="3886200" y="103378"/>
                    <a:pt x="3886200" y="230886"/>
                  </a:cubicBezTo>
                  <a:lnTo>
                    <a:pt x="3886200" y="3807714"/>
                  </a:lnTo>
                  <a:cubicBezTo>
                    <a:pt x="3886200" y="3935222"/>
                    <a:pt x="3782822" y="4038600"/>
                    <a:pt x="3655314" y="4038600"/>
                  </a:cubicBezTo>
                  <a:lnTo>
                    <a:pt x="230886" y="4038600"/>
                  </a:lnTo>
                  <a:cubicBezTo>
                    <a:pt x="103378" y="4038600"/>
                    <a:pt x="0" y="3935222"/>
                    <a:pt x="0" y="3807714"/>
                  </a:cubicBezTo>
                  <a:close/>
                </a:path>
              </a:pathLst>
            </a:custGeom>
            <a:solidFill>
              <a:srgbClr val="192536"/>
            </a:solidFill>
            <a:ln w="28575" cap="sq">
              <a:solidFill>
                <a:srgbClr val="FF6B78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1232456" y="4811718"/>
            <a:ext cx="742950" cy="542925"/>
            <a:chOff x="0" y="0"/>
            <a:chExt cx="990600" cy="7239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90600" cy="723900"/>
            </a:xfrm>
            <a:custGeom>
              <a:avLst/>
              <a:gdLst/>
              <a:ahLst/>
              <a:cxnLst/>
              <a:rect r="r" b="b" t="t" l="l"/>
              <a:pathLst>
                <a:path h="7239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760" t="0" r="-4376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990600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6B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085446" y="5221805"/>
            <a:ext cx="2644686" cy="1871396"/>
            <a:chOff x="0" y="0"/>
            <a:chExt cx="2696401" cy="19079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696401" cy="1907990"/>
            </a:xfrm>
            <a:custGeom>
              <a:avLst/>
              <a:gdLst/>
              <a:ahLst/>
              <a:cxnLst/>
              <a:rect r="r" b="b" t="t" l="l"/>
              <a:pathLst>
                <a:path h="1907990" w="2696401">
                  <a:moveTo>
                    <a:pt x="0" y="0"/>
                  </a:moveTo>
                  <a:lnTo>
                    <a:pt x="2696401" y="0"/>
                  </a:lnTo>
                  <a:lnTo>
                    <a:pt x="2696401" y="1907990"/>
                  </a:lnTo>
                  <a:lnTo>
                    <a:pt x="0" y="19079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41" r="-14452" b="5250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2696401" cy="1946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0"/>
                </a:lnSpc>
              </a:pPr>
              <a:r>
                <a:rPr lang="en-US" sz="21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CẢNH BÁO RỦI RO CAO NHẤT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254262" y="4547399"/>
            <a:ext cx="2900362" cy="3014662"/>
            <a:chOff x="0" y="0"/>
            <a:chExt cx="3867150" cy="40195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867150" cy="4019550"/>
            </a:xfrm>
            <a:custGeom>
              <a:avLst/>
              <a:gdLst/>
              <a:ahLst/>
              <a:cxnLst/>
              <a:rect r="r" b="b" t="t" l="l"/>
              <a:pathLst>
                <a:path h="4019550" w="3867150">
                  <a:moveTo>
                    <a:pt x="0" y="229743"/>
                  </a:moveTo>
                  <a:cubicBezTo>
                    <a:pt x="0" y="102870"/>
                    <a:pt x="102870" y="0"/>
                    <a:pt x="229743" y="0"/>
                  </a:cubicBezTo>
                  <a:lnTo>
                    <a:pt x="3637407" y="0"/>
                  </a:lnTo>
                  <a:cubicBezTo>
                    <a:pt x="3764280" y="0"/>
                    <a:pt x="3867150" y="102870"/>
                    <a:pt x="3867150" y="229743"/>
                  </a:cubicBezTo>
                  <a:lnTo>
                    <a:pt x="3867150" y="3789807"/>
                  </a:lnTo>
                  <a:cubicBezTo>
                    <a:pt x="3867150" y="3916680"/>
                    <a:pt x="3764280" y="4019550"/>
                    <a:pt x="3637407" y="4019550"/>
                  </a:cubicBezTo>
                  <a:lnTo>
                    <a:pt x="229743" y="4019550"/>
                  </a:lnTo>
                  <a:cubicBezTo>
                    <a:pt x="102870" y="4019550"/>
                    <a:pt x="0" y="3916680"/>
                    <a:pt x="0" y="3789807"/>
                  </a:cubicBezTo>
                  <a:close/>
                </a:path>
              </a:pathLst>
            </a:custGeom>
            <a:solidFill>
              <a:srgbClr val="102033"/>
            </a:solidFill>
            <a:ln w="14288" cap="sq">
              <a:solidFill>
                <a:srgbClr val="29445F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4547156" y="4811718"/>
            <a:ext cx="742950" cy="542925"/>
            <a:chOff x="0" y="0"/>
            <a:chExt cx="990600" cy="7239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90600" cy="723900"/>
            </a:xfrm>
            <a:custGeom>
              <a:avLst/>
              <a:gdLst/>
              <a:ahLst/>
              <a:cxnLst/>
              <a:rect r="r" b="b" t="t" l="l"/>
              <a:pathLst>
                <a:path h="7239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723900"/>
                  </a:lnTo>
                  <a:lnTo>
                    <a:pt x="0" y="723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760" t="0" r="-4376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990600" cy="7810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3EE6D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429548" y="5556269"/>
            <a:ext cx="2748824" cy="796723"/>
            <a:chOff x="0" y="0"/>
            <a:chExt cx="3086100" cy="8944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86100" cy="894480"/>
            </a:xfrm>
            <a:custGeom>
              <a:avLst/>
              <a:gdLst/>
              <a:ahLst/>
              <a:cxnLst/>
              <a:rect r="r" b="b" t="t" l="l"/>
              <a:pathLst>
                <a:path h="89448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894480"/>
                  </a:lnTo>
                  <a:lnTo>
                    <a:pt x="0" y="89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50" r="0" b="-130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3086100" cy="95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HƯỚNG DẪN SỬA CHI TIẾT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547156" y="6269043"/>
            <a:ext cx="2314575" cy="785812"/>
            <a:chOff x="0" y="0"/>
            <a:chExt cx="3086100" cy="104775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86100" cy="1047750"/>
            </a:xfrm>
            <a:custGeom>
              <a:avLst/>
              <a:gdLst/>
              <a:ahLst/>
              <a:cxnLst/>
              <a:rect r="r" b="b" t="t" l="l"/>
              <a:pathLst>
                <a:path h="1047750" w="3086100">
                  <a:moveTo>
                    <a:pt x="0" y="0"/>
                  </a:moveTo>
                  <a:lnTo>
                    <a:pt x="3086100" y="0"/>
                  </a:lnTo>
                  <a:lnTo>
                    <a:pt x="3086100" y="1047750"/>
                  </a:lnTo>
                  <a:lnTo>
                    <a:pt x="0" y="10477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2" r="0" b="-739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3086100" cy="1085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Sửa rồi Re-check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95462" y="3041067"/>
            <a:ext cx="9286875" cy="1277731"/>
            <a:chOff x="0" y="0"/>
            <a:chExt cx="12382500" cy="170364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382500" cy="1703642"/>
            </a:xfrm>
            <a:custGeom>
              <a:avLst/>
              <a:gdLst/>
              <a:ahLst/>
              <a:cxnLst/>
              <a:rect r="r" b="b" t="t" l="l"/>
              <a:pathLst>
                <a:path h="1703642" w="12382500">
                  <a:moveTo>
                    <a:pt x="0" y="0"/>
                  </a:moveTo>
                  <a:lnTo>
                    <a:pt x="12382500" y="0"/>
                  </a:lnTo>
                  <a:lnTo>
                    <a:pt x="12382500" y="1703642"/>
                  </a:lnTo>
                  <a:lnTo>
                    <a:pt x="0" y="17036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612" r="0" b="-6063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12382500" cy="1760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79"/>
                </a:lnSpc>
              </a:pPr>
              <a:r>
                <a:rPr lang="en-US" sz="2899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Nguyên</a:t>
              </a:r>
              <a:r>
                <a:rPr lang="en-US" sz="2899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tắc hoạt động: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073438" cy="971550"/>
            <a:chOff x="0" y="0"/>
            <a:chExt cx="21431250" cy="129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31250" cy="1295400"/>
            </a:xfrm>
            <a:custGeom>
              <a:avLst/>
              <a:gdLst/>
              <a:ahLst/>
              <a:cxnLst/>
              <a:rect r="r" b="b" t="t" l="l"/>
              <a:pathLst>
                <a:path h="1295400" w="21431250">
                  <a:moveTo>
                    <a:pt x="0" y="0"/>
                  </a:moveTo>
                  <a:lnTo>
                    <a:pt x="21431250" y="0"/>
                  </a:lnTo>
                  <a:lnTo>
                    <a:pt x="21431250" y="1295400"/>
                  </a:lnTo>
                  <a:lnTo>
                    <a:pt x="0" y="1295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2362" r="0" b="-27236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143125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30"/>
                </a:lnSpc>
              </a:pPr>
              <a:r>
                <a:rPr lang="en-US" sz="4275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Các tính năng đề xuất</a:t>
              </a:r>
            </a:p>
          </p:txBody>
        </p:sp>
      </p:grpSp>
      <p:sp>
        <p:nvSpPr>
          <p:cNvPr name="AutoShape 5" id="5"/>
          <p:cNvSpPr/>
          <p:nvPr/>
        </p:nvSpPr>
        <p:spPr>
          <a:xfrm rot="3000">
            <a:off x="907256" y="2066925"/>
            <a:ext cx="16473497" cy="0"/>
          </a:xfrm>
          <a:prstGeom prst="line">
            <a:avLst/>
          </a:prstGeom>
          <a:ln cap="rnd" w="9525">
            <a:solidFill>
              <a:srgbClr val="29445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630650" y="9401175"/>
            <a:ext cx="742950" cy="342900"/>
            <a:chOff x="0" y="0"/>
            <a:chExt cx="990600" cy="457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0600" cy="457200"/>
            </a:xfrm>
            <a:custGeom>
              <a:avLst/>
              <a:gdLst/>
              <a:ahLst/>
              <a:cxnLst/>
              <a:rect r="r" b="b" t="t" l="l"/>
              <a:pathLst>
                <a:path h="4572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90600" cy="485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755"/>
                </a:lnSpc>
              </a:pPr>
              <a:r>
                <a:rPr lang="en-US" sz="1462" b="true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69094" y="2326343"/>
            <a:ext cx="238531" cy="197048"/>
            <a:chOff x="0" y="0"/>
            <a:chExt cx="230604" cy="190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0604" cy="190500"/>
            </a:xfrm>
            <a:custGeom>
              <a:avLst/>
              <a:gdLst/>
              <a:ahLst/>
              <a:cxnLst/>
              <a:rect r="r" b="b" t="t" l="l"/>
              <a:pathLst>
                <a:path h="190500" w="230604">
                  <a:moveTo>
                    <a:pt x="0" y="95250"/>
                  </a:moveTo>
                  <a:cubicBezTo>
                    <a:pt x="0" y="42672"/>
                    <a:pt x="51655" y="0"/>
                    <a:pt x="115302" y="0"/>
                  </a:cubicBezTo>
                  <a:cubicBezTo>
                    <a:pt x="178949" y="0"/>
                    <a:pt x="230604" y="42672"/>
                    <a:pt x="230604" y="95250"/>
                  </a:cubicBezTo>
                  <a:cubicBezTo>
                    <a:pt x="230604" y="147828"/>
                    <a:pt x="178949" y="190500"/>
                    <a:pt x="115302" y="190500"/>
                  </a:cubicBezTo>
                  <a:cubicBezTo>
                    <a:pt x="51655" y="190500"/>
                    <a:pt x="0" y="147828"/>
                    <a:pt x="0" y="95250"/>
                  </a:cubicBezTo>
                  <a:close/>
                </a:path>
              </a:pathLst>
            </a:custGeom>
            <a:solidFill>
              <a:srgbClr val="53A8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593861" y="2188409"/>
            <a:ext cx="14932018" cy="625897"/>
            <a:chOff x="0" y="0"/>
            <a:chExt cx="14435812" cy="6050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35812" cy="605098"/>
            </a:xfrm>
            <a:custGeom>
              <a:avLst/>
              <a:gdLst/>
              <a:ahLst/>
              <a:cxnLst/>
              <a:rect r="r" b="b" t="t" l="l"/>
              <a:pathLst>
                <a:path h="605098" w="14435812">
                  <a:moveTo>
                    <a:pt x="0" y="0"/>
                  </a:moveTo>
                  <a:lnTo>
                    <a:pt x="14435812" y="0"/>
                  </a:lnTo>
                  <a:lnTo>
                    <a:pt x="14435812" y="605098"/>
                  </a:lnTo>
                  <a:lnTo>
                    <a:pt x="0" y="6050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3084" r="17390" b="-32493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435812" cy="6527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25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Tự động tổng hợp yêu cầu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35057" y="2636583"/>
            <a:ext cx="17140526" cy="1305191"/>
            <a:chOff x="0" y="0"/>
            <a:chExt cx="16570930" cy="126181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570930" cy="1261818"/>
            </a:xfrm>
            <a:custGeom>
              <a:avLst/>
              <a:gdLst/>
              <a:ahLst/>
              <a:cxnLst/>
              <a:rect r="r" b="b" t="t" l="l"/>
              <a:pathLst>
                <a:path h="1261818" w="16570930">
                  <a:moveTo>
                    <a:pt x="0" y="0"/>
                  </a:moveTo>
                  <a:lnTo>
                    <a:pt x="16570930" y="0"/>
                  </a:lnTo>
                  <a:lnTo>
                    <a:pt x="16570930" y="1261818"/>
                  </a:lnTo>
                  <a:lnTo>
                    <a:pt x="0" y="12618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388" r="28034" b="-12491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6570930" cy="13189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b="true" sz="2600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Merge:</a:t>
              </a:r>
              <a:r>
                <a:rPr lang="en-US" sz="26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Dùng LLM (OpenAI, Google...) đ</a:t>
              </a:r>
              <a:r>
                <a:rPr lang="en-US" sz="26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ọc và gộp tự động Codelab (.md, .txt) + GitHub Rubric.</a:t>
              </a:r>
            </a:p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b="true" sz="2600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quả: </a:t>
              </a:r>
              <a:r>
                <a:rPr lang="en-US" sz="26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Tạo ra một bộ Requirement Pack duy nhất, không mâu thuẫn.</a:t>
              </a:r>
            </a:p>
            <a:p>
              <a:pPr algn="l">
                <a:lnSpc>
                  <a:spcPts val="31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9094" y="4020957"/>
            <a:ext cx="238531" cy="197048"/>
            <a:chOff x="0" y="0"/>
            <a:chExt cx="230604" cy="190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0604" cy="190500"/>
            </a:xfrm>
            <a:custGeom>
              <a:avLst/>
              <a:gdLst/>
              <a:ahLst/>
              <a:cxnLst/>
              <a:rect r="r" b="b" t="t" l="l"/>
              <a:pathLst>
                <a:path h="190500" w="230604">
                  <a:moveTo>
                    <a:pt x="0" y="95250"/>
                  </a:moveTo>
                  <a:cubicBezTo>
                    <a:pt x="0" y="42672"/>
                    <a:pt x="51655" y="0"/>
                    <a:pt x="115302" y="0"/>
                  </a:cubicBezTo>
                  <a:cubicBezTo>
                    <a:pt x="178949" y="0"/>
                    <a:pt x="230604" y="42672"/>
                    <a:pt x="230604" y="95250"/>
                  </a:cubicBezTo>
                  <a:cubicBezTo>
                    <a:pt x="230604" y="147828"/>
                    <a:pt x="178949" y="190500"/>
                    <a:pt x="115302" y="190500"/>
                  </a:cubicBezTo>
                  <a:cubicBezTo>
                    <a:pt x="51655" y="190500"/>
                    <a:pt x="0" y="147828"/>
                    <a:pt x="0" y="95250"/>
                  </a:cubicBezTo>
                  <a:close/>
                </a:path>
              </a:pathLst>
            </a:custGeom>
            <a:solidFill>
              <a:srgbClr val="FF6B78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93861" y="3856154"/>
            <a:ext cx="14932018" cy="506713"/>
            <a:chOff x="0" y="0"/>
            <a:chExt cx="14435812" cy="4898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435812" cy="489874"/>
            </a:xfrm>
            <a:custGeom>
              <a:avLst/>
              <a:gdLst/>
              <a:ahLst/>
              <a:cxnLst/>
              <a:rect r="r" b="b" t="t" l="l"/>
              <a:pathLst>
                <a:path h="489874" w="14435812">
                  <a:moveTo>
                    <a:pt x="0" y="0"/>
                  </a:moveTo>
                  <a:lnTo>
                    <a:pt x="14435812" y="0"/>
                  </a:lnTo>
                  <a:lnTo>
                    <a:pt x="14435812" y="489874"/>
                  </a:lnTo>
                  <a:lnTo>
                    <a:pt x="0" y="4898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3782" r="17390" b="-42488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4435812" cy="5374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</a:t>
              </a:r>
              <a:r>
                <a:rPr lang="en-US" sz="2549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view &amp; Xác nhận 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93861" y="4246574"/>
            <a:ext cx="16376076" cy="1305192"/>
            <a:chOff x="0" y="0"/>
            <a:chExt cx="15831883" cy="126181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831883" cy="1261819"/>
            </a:xfrm>
            <a:custGeom>
              <a:avLst/>
              <a:gdLst/>
              <a:ahLst/>
              <a:cxnLst/>
              <a:rect r="r" b="b" t="t" l="l"/>
              <a:pathLst>
                <a:path h="1261819" w="15831883">
                  <a:moveTo>
                    <a:pt x="0" y="0"/>
                  </a:moveTo>
                  <a:lnTo>
                    <a:pt x="15831883" y="0"/>
                  </a:lnTo>
                  <a:lnTo>
                    <a:pt x="15831883" y="1261819"/>
                  </a:lnTo>
                  <a:lnTo>
                    <a:pt x="0" y="12618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388" r="24675" b="-12491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5831883" cy="13189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b="true" sz="2600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Minh bạch:</a:t>
              </a:r>
              <a:r>
                <a:rPr lang="en-US" sz="26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H</a:t>
              </a:r>
              <a:r>
                <a:rPr lang="en-US" sz="26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iển thị danh sách tiêu chí được chia nhóm rõ ràng cùng mức độ rủi ro.</a:t>
              </a:r>
            </a:p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b="true" sz="2600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Cơ chế Reject: </a:t>
              </a:r>
              <a:r>
                <a:rPr lang="en-US" sz="26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Học viên có quyền tick chọn bỏ qua các yêu cầu AI nhận diện sai trước khi quét.</a:t>
              </a:r>
            </a:p>
            <a:p>
              <a:pPr algn="l">
                <a:lnSpc>
                  <a:spcPts val="312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69094" y="5715570"/>
            <a:ext cx="238531" cy="197048"/>
            <a:chOff x="0" y="0"/>
            <a:chExt cx="230604" cy="190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0604" cy="190500"/>
            </a:xfrm>
            <a:custGeom>
              <a:avLst/>
              <a:gdLst/>
              <a:ahLst/>
              <a:cxnLst/>
              <a:rect r="r" b="b" t="t" l="l"/>
              <a:pathLst>
                <a:path h="190500" w="230604">
                  <a:moveTo>
                    <a:pt x="0" y="95250"/>
                  </a:moveTo>
                  <a:cubicBezTo>
                    <a:pt x="0" y="42672"/>
                    <a:pt x="51655" y="0"/>
                    <a:pt x="115302" y="0"/>
                  </a:cubicBezTo>
                  <a:cubicBezTo>
                    <a:pt x="178949" y="0"/>
                    <a:pt x="230604" y="42672"/>
                    <a:pt x="230604" y="95250"/>
                  </a:cubicBezTo>
                  <a:cubicBezTo>
                    <a:pt x="230604" y="147828"/>
                    <a:pt x="178949" y="190500"/>
                    <a:pt x="115302" y="190500"/>
                  </a:cubicBezTo>
                  <a:cubicBezTo>
                    <a:pt x="51655" y="190500"/>
                    <a:pt x="0" y="147828"/>
                    <a:pt x="0" y="95250"/>
                  </a:cubicBezTo>
                  <a:close/>
                </a:path>
              </a:pathLst>
            </a:custGeom>
            <a:solidFill>
              <a:srgbClr val="3EE6D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593861" y="5970964"/>
            <a:ext cx="16456008" cy="1690278"/>
            <a:chOff x="0" y="0"/>
            <a:chExt cx="15909158" cy="16341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5909158" cy="1634108"/>
            </a:xfrm>
            <a:custGeom>
              <a:avLst/>
              <a:gdLst/>
              <a:ahLst/>
              <a:cxnLst/>
              <a:rect r="r" b="b" t="t" l="l"/>
              <a:pathLst>
                <a:path h="1634108" w="15909158">
                  <a:moveTo>
                    <a:pt x="0" y="0"/>
                  </a:moveTo>
                  <a:lnTo>
                    <a:pt x="15909158" y="0"/>
                  </a:lnTo>
                  <a:lnTo>
                    <a:pt x="15909158" y="1634108"/>
                  </a:lnTo>
                  <a:lnTo>
                    <a:pt x="0" y="16341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20" r="25041" b="-7367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5909158" cy="1691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61339" indent="-280669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Không cần cà</a:t>
              </a:r>
              <a:r>
                <a:rPr lang="en-US" b="true" sz="2599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 đặt:</a:t>
              </a:r>
              <a:r>
                <a:rPr lang="en-US" sz="2599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Đọc thẳng file từ URL public repo của học viên.</a:t>
              </a:r>
            </a:p>
            <a:p>
              <a:pPr algn="l" marL="561339" indent="-280669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Deterministic Check (Độ chuẩn xác 100%): </a:t>
              </a:r>
              <a:r>
                <a:rPr lang="en-US" sz="2599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Dùng AST/Regex quét cấu trúc file, khai báo hàm, vòng lặp, lộ API Key.</a:t>
              </a:r>
            </a:p>
            <a:p>
              <a:pPr algn="l" marL="561339" indent="-280669" lvl="1">
                <a:lnSpc>
                  <a:spcPts val="3119"/>
                </a:lnSpc>
                <a:buFont typeface="Arial"/>
                <a:buChar char="•"/>
              </a:pPr>
              <a:r>
                <a:rPr lang="en-US" b="true" sz="2599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Graceful Uncertainty:</a:t>
              </a:r>
              <a:r>
                <a:rPr lang="en-US" sz="2599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Trả về nhãn Needs_Review nếu logic quá phức tạp, tránh AI đánh giá sai rubric.</a:t>
              </a:r>
            </a:p>
            <a:p>
              <a:pPr algn="l">
                <a:lnSpc>
                  <a:spcPts val="311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93861" y="5538227"/>
            <a:ext cx="14932018" cy="579078"/>
            <a:chOff x="0" y="0"/>
            <a:chExt cx="14435812" cy="55983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435812" cy="559834"/>
            </a:xfrm>
            <a:custGeom>
              <a:avLst/>
              <a:gdLst/>
              <a:ahLst/>
              <a:cxnLst/>
              <a:rect r="r" b="b" t="t" l="l"/>
              <a:pathLst>
                <a:path h="559834" w="14435812">
                  <a:moveTo>
                    <a:pt x="0" y="0"/>
                  </a:moveTo>
                  <a:lnTo>
                    <a:pt x="14435812" y="0"/>
                  </a:lnTo>
                  <a:lnTo>
                    <a:pt x="14435812" y="559834"/>
                  </a:lnTo>
                  <a:lnTo>
                    <a:pt x="0" y="559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823" r="17390" b="-35929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4435812" cy="60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Quét bài </a:t>
              </a:r>
              <a:r>
                <a:rPr lang="en-US" sz="25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tự động 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69094" y="7838586"/>
            <a:ext cx="238531" cy="197048"/>
            <a:chOff x="0" y="0"/>
            <a:chExt cx="230604" cy="190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30604" cy="190500"/>
            </a:xfrm>
            <a:custGeom>
              <a:avLst/>
              <a:gdLst/>
              <a:ahLst/>
              <a:cxnLst/>
              <a:rect r="r" b="b" t="t" l="l"/>
              <a:pathLst>
                <a:path h="190500" w="230604">
                  <a:moveTo>
                    <a:pt x="0" y="95250"/>
                  </a:moveTo>
                  <a:cubicBezTo>
                    <a:pt x="0" y="42672"/>
                    <a:pt x="51655" y="0"/>
                    <a:pt x="115302" y="0"/>
                  </a:cubicBezTo>
                  <a:cubicBezTo>
                    <a:pt x="178949" y="0"/>
                    <a:pt x="230604" y="42672"/>
                    <a:pt x="230604" y="95250"/>
                  </a:cubicBezTo>
                  <a:cubicBezTo>
                    <a:pt x="230604" y="147828"/>
                    <a:pt x="178949" y="190500"/>
                    <a:pt x="115302" y="190500"/>
                  </a:cubicBezTo>
                  <a:cubicBezTo>
                    <a:pt x="51655" y="190500"/>
                    <a:pt x="0" y="147828"/>
                    <a:pt x="0" y="95250"/>
                  </a:cubicBezTo>
                  <a:close/>
                </a:path>
              </a:pathLst>
            </a:custGeom>
            <a:solidFill>
              <a:srgbClr val="3EE6D5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593861" y="8053797"/>
            <a:ext cx="16456008" cy="1690278"/>
            <a:chOff x="0" y="0"/>
            <a:chExt cx="15909158" cy="163410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909158" cy="1634109"/>
            </a:xfrm>
            <a:custGeom>
              <a:avLst/>
              <a:gdLst/>
              <a:ahLst/>
              <a:cxnLst/>
              <a:rect r="r" b="b" t="t" l="l"/>
              <a:pathLst>
                <a:path h="1634109" w="15909158">
                  <a:moveTo>
                    <a:pt x="0" y="0"/>
                  </a:moveTo>
                  <a:lnTo>
                    <a:pt x="15909158" y="0"/>
                  </a:lnTo>
                  <a:lnTo>
                    <a:pt x="15909158" y="1634109"/>
                  </a:lnTo>
                  <a:lnTo>
                    <a:pt x="0" y="16341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20" r="25041" b="-7367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5909158" cy="1691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b="true" sz="2600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Prioritization: </a:t>
              </a:r>
              <a:r>
                <a:rPr lang="en-US" sz="26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Xếp hạng lỗi theo mức</a:t>
              </a:r>
              <a:r>
                <a:rPr lang="en-US" sz="26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độ (VD: Thiếu file = High, Lộ Token = Critical).</a:t>
              </a:r>
            </a:p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b="true" sz="2600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Risk Cards:</a:t>
              </a:r>
              <a:r>
                <a:rPr lang="en-US" sz="26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Chỉ điểm chính xác file lỗi và nguyên nhân (Evidence).</a:t>
              </a:r>
            </a:p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b="true" sz="2600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</a:t>
              </a:r>
              <a:r>
                <a:rPr lang="en-US" b="true" sz="2600">
                  <a:solidFill>
                    <a:srgbClr val="AFC0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ead-only: </a:t>
              </a:r>
              <a:r>
                <a:rPr lang="en-US" sz="2600">
                  <a:solidFill>
                    <a:srgbClr val="AFC0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Bắt buộc tự sửa code, tự commit (Không làm hộ). Nút "AI đánh giá sai" để nhờ TA can thiệp.</a:t>
              </a:r>
            </a:p>
            <a:p>
              <a:pPr algn="l">
                <a:lnSpc>
                  <a:spcPts val="312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593861" y="7661242"/>
            <a:ext cx="14932018" cy="579078"/>
            <a:chOff x="0" y="0"/>
            <a:chExt cx="14435812" cy="55983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435812" cy="559834"/>
            </a:xfrm>
            <a:custGeom>
              <a:avLst/>
              <a:gdLst/>
              <a:ahLst/>
              <a:cxnLst/>
              <a:rect r="r" b="b" t="t" l="l"/>
              <a:pathLst>
                <a:path h="559834" w="14435812">
                  <a:moveTo>
                    <a:pt x="0" y="0"/>
                  </a:moveTo>
                  <a:lnTo>
                    <a:pt x="14435812" y="0"/>
                  </a:lnTo>
                  <a:lnTo>
                    <a:pt x="14435812" y="559834"/>
                  </a:lnTo>
                  <a:lnTo>
                    <a:pt x="0" y="559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823" r="17390" b="-35929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4435812" cy="60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Cảnh báo rủi ro</a:t>
              </a:r>
              <a:r>
                <a:rPr lang="en-US" sz="2550" b="true">
                  <a:solidFill>
                    <a:srgbClr val="F5F8F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&amp; Hướng dẫn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83853" y="3292080"/>
            <a:ext cx="6654507" cy="366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303"/>
              </a:lnSpc>
              <a:spcBef>
                <a:spcPct val="0"/>
              </a:spcBef>
            </a:pPr>
            <a:r>
              <a:rPr lang="en-US" b="true" sz="2108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  <a:r>
              <a:rPr lang="en-US" b="true" sz="2108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DAHQ6_HJCIQ</dc:identifier>
  <dcterms:modified xsi:type="dcterms:W3CDTF">2011-08-01T06:04:30Z</dcterms:modified>
  <cp:revision>1</cp:revision>
  <dc:title>LabGuard_Presentation.pptx</dc:title>
</cp:coreProperties>
</file>